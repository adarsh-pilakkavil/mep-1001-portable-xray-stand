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4/30/2026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344284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97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4/30/2026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3193705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4/30/2026</a:t>
            </a:fld>
            <a:endParaRPr lang="en-US" dirty="0"/>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dirty="0"/>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1006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4/30/2026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7763444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4/30/2026</a:t>
            </a:fld>
            <a:endParaRPr lang="en-US" dirty="0"/>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7683680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4/30/2026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1893992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4/30/2026</a:t>
            </a:fld>
            <a:endParaRPr lang="en-US" dirty="0"/>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5496010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39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178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4/30/2026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282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7140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4/30/2026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4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348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41962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674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437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9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4/30/2026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233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4/30/2026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69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4/30/2026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045954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4/30/2026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15144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4/30/2026</a:t>
            </a:fld>
            <a:endParaRPr lang="en-US" dirty="0"/>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4170001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4/30/2026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621296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4/30/2026</a:t>
            </a:fld>
            <a:endParaRPr lang="en-US" dirty="0"/>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09897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4/30/2026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6118195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4/30/2026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715171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4/30/2026</a:t>
            </a:fld>
            <a:endParaRPr lang="en-US" dirty="0"/>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516201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4/30/2026</a:t>
            </a:fld>
            <a:endParaRPr lang="en-US" dirty="0"/>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071041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4/30/2026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46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4/30/2026</a:t>
            </a:fld>
            <a:endParaRPr lang="en-US" dirty="0"/>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9697166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4/30/2026</a:t>
            </a:fld>
            <a:endParaRPr lang="en-US" dirty="0"/>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778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4/30/2026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684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4/30/2026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30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4/30/2026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46876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4/30/2026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dirty="0"/>
              <a:t> </a:t>
            </a:r>
          </a:p>
        </p:txBody>
      </p:sp>
    </p:spTree>
    <p:extLst>
      <p:ext uri="{BB962C8B-B14F-4D97-AF65-F5344CB8AC3E}">
        <p14:creationId xmlns:p14="http://schemas.microsoft.com/office/powerpoint/2010/main" val="24149277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dirty="0"/>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4/30/2026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67662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52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38583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87608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dirty="0"/>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4/30/2026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38500377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4/30/2026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1873031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4/30/2026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81256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4/30/2026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3863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4/30/2026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823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06920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endParaRPr lang="en-US" dirty="0"/>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61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endParaRPr lang="en-US" dirty="0"/>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8895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4/30/2026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85909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4/30/2026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69193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4/30/2026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61661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4/30/2026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20420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4/30/2026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74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4/30/2026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6886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4/30/2026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578669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4/30/2026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334734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4/30/2026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383068"/>
      </p:ext>
    </p:extLst>
  </p:cSld>
  <p:clrMap bg1="lt1" tx1="dk1" bg2="lt2" tx2="dk2" accent1="accent1" accent2="accent2" accent3="accent3" accent4="accent4" accent5="accent5" accent6="accent6" hlink="hlink" folHlink="folHlink"/>
  <p:sldLayoutIdLst>
    <p:sldLayoutId id="2147483764" r:id="rId1"/>
    <p:sldLayoutId id="2147483767" r:id="rId2"/>
    <p:sldLayoutId id="2147483762" r:id="rId3"/>
    <p:sldLayoutId id="2147483945" r:id="rId4"/>
    <p:sldLayoutId id="2147483936" r:id="rId5"/>
    <p:sldLayoutId id="2147483759" r:id="rId6"/>
    <p:sldLayoutId id="2147483760" r:id="rId7"/>
    <p:sldLayoutId id="2147483761" r:id="rId8"/>
    <p:sldLayoutId id="2147483765" r:id="rId9"/>
    <p:sldLayoutId id="2147483770" r:id="rId10"/>
    <p:sldLayoutId id="2147483953" r:id="rId11"/>
    <p:sldLayoutId id="2147483948" r:id="rId12"/>
    <p:sldLayoutId id="2147483954" r:id="rId13"/>
    <p:sldLayoutId id="2147483769" r:id="rId14"/>
    <p:sldLayoutId id="2147483944" r:id="rId15"/>
    <p:sldLayoutId id="2147483771" r:id="rId16"/>
    <p:sldLayoutId id="2147483772" r:id="rId17"/>
    <p:sldLayoutId id="2147483774" r:id="rId18"/>
    <p:sldLayoutId id="2147483949" r:id="rId19"/>
    <p:sldLayoutId id="2147483950" r:id="rId20"/>
    <p:sldLayoutId id="2147483775" r:id="rId21"/>
    <p:sldLayoutId id="2147483776" r:id="rId22"/>
    <p:sldLayoutId id="2147483777" r:id="rId23"/>
    <p:sldLayoutId id="2147483778" r:id="rId24"/>
    <p:sldLayoutId id="2147483779" r:id="rId25"/>
    <p:sldLayoutId id="2147483780" r:id="rId26"/>
    <p:sldLayoutId id="2147483782" r:id="rId27"/>
    <p:sldLayoutId id="2147483783" r:id="rId28"/>
    <p:sldLayoutId id="2147483784" r:id="rId29"/>
    <p:sldLayoutId id="2147483786" r:id="rId30"/>
    <p:sldLayoutId id="2147483787" r:id="rId31"/>
    <p:sldLayoutId id="2147483788" r:id="rId32"/>
    <p:sldLayoutId id="2147483789" r:id="rId33"/>
    <p:sldLayoutId id="2147483791" r:id="rId34"/>
    <p:sldLayoutId id="2147483947" r:id="rId35"/>
    <p:sldLayoutId id="2147483951" r:id="rId36"/>
    <p:sldLayoutId id="2147483952" r:id="rId37"/>
    <p:sldLayoutId id="2147483792" r:id="rId38"/>
    <p:sldLayoutId id="2147483793" r:id="rId39"/>
    <p:sldLayoutId id="2147483794" r:id="rId40"/>
    <p:sldLayoutId id="2147483941" r:id="rId41"/>
    <p:sldLayoutId id="2147483795" r:id="rId42"/>
    <p:sldLayoutId id="2147483796" r:id="rId43"/>
    <p:sldLayoutId id="2147483942" r:id="rId44"/>
    <p:sldLayoutId id="2147483943"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 id="2147483806" r:id="rId54"/>
    <p:sldLayoutId id="2147483807" r:id="rId55"/>
    <p:sldLayoutId id="2147483934"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5A23-E903-CBE3-8C28-74D2B95D735E}"/>
              </a:ext>
            </a:extLst>
          </p:cNvPr>
          <p:cNvSpPr>
            <a:spLocks noGrp="1"/>
          </p:cNvSpPr>
          <p:nvPr>
            <p:ph type="title"/>
          </p:nvPr>
        </p:nvSpPr>
        <p:spPr>
          <a:xfrm>
            <a:off x="6857998" y="964075"/>
            <a:ext cx="4654297" cy="1474325"/>
          </a:xfrm>
        </p:spPr>
        <p:txBody>
          <a:bodyPr/>
          <a:lstStyle/>
          <a:p>
            <a:r>
              <a:rPr lang="en-IN" dirty="0"/>
              <a:t>Portable Xray stand</a:t>
            </a:r>
          </a:p>
        </p:txBody>
      </p:sp>
      <p:sp>
        <p:nvSpPr>
          <p:cNvPr id="3" name="Subtitle 2">
            <a:extLst>
              <a:ext uri="{FF2B5EF4-FFF2-40B4-BE49-F238E27FC236}">
                <a16:creationId xmlns:a16="http://schemas.microsoft.com/office/drawing/2014/main" id="{00426DFE-17EC-43ED-86A9-E2B591D48A45}"/>
              </a:ext>
            </a:extLst>
          </p:cNvPr>
          <p:cNvSpPr>
            <a:spLocks noGrp="1"/>
          </p:cNvSpPr>
          <p:nvPr>
            <p:ph type="subTitle" idx="1"/>
          </p:nvPr>
        </p:nvSpPr>
        <p:spPr>
          <a:xfrm>
            <a:off x="6858000" y="3623733"/>
            <a:ext cx="4206240" cy="2579853"/>
          </a:xfrm>
        </p:spPr>
        <p:txBody>
          <a:bodyPr>
            <a:normAutofit fontScale="92500" lnSpcReduction="10000"/>
          </a:bodyPr>
          <a:lstStyle/>
          <a:p>
            <a:r>
              <a:rPr lang="en-IN" dirty="0"/>
              <a:t>Team Members- </a:t>
            </a:r>
          </a:p>
          <a:p>
            <a:pPr marL="342900" indent="-342900">
              <a:buFont typeface="Arial" panose="020B0604020202020204" pitchFamily="34" charset="0"/>
              <a:buChar char="•"/>
            </a:pPr>
            <a:r>
              <a:rPr lang="en-IN" dirty="0"/>
              <a:t>Adarsh</a:t>
            </a:r>
          </a:p>
          <a:p>
            <a:pPr marL="342900" indent="-342900">
              <a:buFont typeface="Arial" panose="020B0604020202020204" pitchFamily="34" charset="0"/>
              <a:buChar char="•"/>
            </a:pPr>
            <a:r>
              <a:rPr lang="en-IN" dirty="0"/>
              <a:t>Dhaval</a:t>
            </a:r>
          </a:p>
          <a:p>
            <a:pPr marL="342900" indent="-342900">
              <a:buFont typeface="Arial" panose="020B0604020202020204" pitchFamily="34" charset="0"/>
              <a:buChar char="•"/>
            </a:pPr>
            <a:r>
              <a:rPr lang="en-IN" dirty="0"/>
              <a:t>Anjali</a:t>
            </a:r>
          </a:p>
          <a:p>
            <a:pPr marL="342900" indent="-342900">
              <a:buFont typeface="Arial" panose="020B0604020202020204" pitchFamily="34" charset="0"/>
              <a:buChar char="•"/>
            </a:pPr>
            <a:r>
              <a:rPr lang="en-IN" dirty="0" err="1"/>
              <a:t>Krishita</a:t>
            </a:r>
            <a:r>
              <a:rPr lang="en-IN" dirty="0"/>
              <a:t> </a:t>
            </a:r>
          </a:p>
          <a:p>
            <a:pPr marL="342900" indent="-342900">
              <a:buFont typeface="Arial" panose="020B0604020202020204" pitchFamily="34" charset="0"/>
              <a:buChar char="•"/>
            </a:pPr>
            <a:r>
              <a:rPr lang="en-IN" dirty="0"/>
              <a:t>Ritik</a:t>
            </a:r>
          </a:p>
        </p:txBody>
      </p:sp>
      <p:pic>
        <p:nvPicPr>
          <p:cNvPr id="13" name="Picture 12">
            <a:extLst>
              <a:ext uri="{FF2B5EF4-FFF2-40B4-BE49-F238E27FC236}">
                <a16:creationId xmlns:a16="http://schemas.microsoft.com/office/drawing/2014/main" id="{8FFD5A0A-A3CF-8FD7-6B07-5C00A56794B2}"/>
              </a:ext>
            </a:extLst>
          </p:cNvPr>
          <p:cNvPicPr>
            <a:picLocks noChangeAspect="1"/>
          </p:cNvPicPr>
          <p:nvPr/>
        </p:nvPicPr>
        <p:blipFill>
          <a:blip r:embed="rId2"/>
          <a:stretch>
            <a:fillRect/>
          </a:stretch>
        </p:blipFill>
        <p:spPr>
          <a:xfrm>
            <a:off x="1465664" y="242249"/>
            <a:ext cx="3752590" cy="6479226"/>
          </a:xfrm>
          <a:prstGeom prst="rect">
            <a:avLst/>
          </a:prstGeom>
        </p:spPr>
      </p:pic>
    </p:spTree>
    <p:extLst>
      <p:ext uri="{BB962C8B-B14F-4D97-AF65-F5344CB8AC3E}">
        <p14:creationId xmlns:p14="http://schemas.microsoft.com/office/powerpoint/2010/main" val="4211034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78A8C-3102-9C8D-5B1E-3D35A1CFE39D}"/>
              </a:ext>
            </a:extLst>
          </p:cNvPr>
          <p:cNvSpPr>
            <a:spLocks noGrp="1"/>
          </p:cNvSpPr>
          <p:nvPr>
            <p:ph type="title"/>
          </p:nvPr>
        </p:nvSpPr>
        <p:spPr/>
        <p:txBody>
          <a:bodyPr/>
          <a:lstStyle/>
          <a:p>
            <a:pPr algn="ctr"/>
            <a:r>
              <a:rPr lang="en-IN" dirty="0"/>
              <a:t>Shops used</a:t>
            </a:r>
          </a:p>
        </p:txBody>
      </p:sp>
      <p:sp>
        <p:nvSpPr>
          <p:cNvPr id="4" name="Content Placeholder 3">
            <a:extLst>
              <a:ext uri="{FF2B5EF4-FFF2-40B4-BE49-F238E27FC236}">
                <a16:creationId xmlns:a16="http://schemas.microsoft.com/office/drawing/2014/main" id="{775CDDD9-AA4D-1108-258C-A2293C95884B}"/>
              </a:ext>
            </a:extLst>
          </p:cNvPr>
          <p:cNvSpPr>
            <a:spLocks noGrp="1"/>
          </p:cNvSpPr>
          <p:nvPr>
            <p:ph idx="1"/>
          </p:nvPr>
        </p:nvSpPr>
        <p:spPr>
          <a:xfrm>
            <a:off x="731520" y="2083443"/>
            <a:ext cx="10780776" cy="4500236"/>
          </a:xfrm>
        </p:spPr>
        <p:txBody>
          <a:bodyPr/>
          <a:lstStyle/>
          <a:p>
            <a:pPr marL="285750" indent="-285750">
              <a:buFont typeface="Arial" panose="020B0604020202020204" pitchFamily="34" charset="0"/>
              <a:buChar char="•"/>
            </a:pPr>
            <a:r>
              <a:rPr lang="en-IN" sz="2400" dirty="0"/>
              <a:t>Sheet metal </a:t>
            </a:r>
          </a:p>
          <a:p>
            <a:pPr marL="285750" indent="-285750">
              <a:buFont typeface="Arial" panose="020B0604020202020204" pitchFamily="34" charset="0"/>
              <a:buChar char="•"/>
            </a:pPr>
            <a:r>
              <a:rPr lang="en-IN" sz="2400" dirty="0"/>
              <a:t>Digital </a:t>
            </a:r>
            <a:r>
              <a:rPr lang="en-IN" sz="2400" dirty="0" err="1"/>
              <a:t>Manafacturing</a:t>
            </a:r>
            <a:r>
              <a:rPr lang="en-IN" sz="2400" dirty="0"/>
              <a:t> </a:t>
            </a:r>
          </a:p>
          <a:p>
            <a:pPr marL="285750" indent="-285750">
              <a:buFont typeface="Arial" panose="020B0604020202020204" pitchFamily="34" charset="0"/>
              <a:buChar char="•"/>
            </a:pPr>
            <a:r>
              <a:rPr lang="en-IN" sz="2400" dirty="0"/>
              <a:t>Welding</a:t>
            </a:r>
          </a:p>
          <a:p>
            <a:pPr marL="285750" indent="-285750">
              <a:buFont typeface="Arial" panose="020B0604020202020204" pitchFamily="34" charset="0"/>
              <a:buChar char="•"/>
            </a:pPr>
            <a:r>
              <a:rPr lang="en-IN" sz="2400" dirty="0"/>
              <a:t>Fabrication</a:t>
            </a:r>
          </a:p>
          <a:p>
            <a:pPr marL="285750" indent="-285750">
              <a:buFont typeface="Arial" panose="020B0604020202020204" pitchFamily="34" charset="0"/>
              <a:buChar char="•"/>
            </a:pPr>
            <a:r>
              <a:rPr lang="en-IN" sz="2400" dirty="0"/>
              <a:t>CNC</a:t>
            </a:r>
          </a:p>
          <a:p>
            <a:pPr marL="285750" indent="-285750">
              <a:buFont typeface="Arial" panose="020B0604020202020204" pitchFamily="34" charset="0"/>
              <a:buChar char="•"/>
            </a:pPr>
            <a:r>
              <a:rPr lang="en-IN" sz="2400" dirty="0"/>
              <a:t>Woodworking</a:t>
            </a:r>
          </a:p>
          <a:p>
            <a:pPr marL="285750" indent="-285750">
              <a:buFont typeface="Arial" panose="020B0604020202020204" pitchFamily="34" charset="0"/>
              <a:buChar char="•"/>
            </a:pPr>
            <a:r>
              <a:rPr lang="en-IN" sz="2400" dirty="0"/>
              <a:t>3-d printing</a:t>
            </a:r>
          </a:p>
          <a:p>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993069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3AB17-4399-8373-C169-A5DFEE2440C0}"/>
              </a:ext>
            </a:extLst>
          </p:cNvPr>
          <p:cNvSpPr>
            <a:spLocks noGrp="1"/>
          </p:cNvSpPr>
          <p:nvPr>
            <p:ph type="title"/>
          </p:nvPr>
        </p:nvSpPr>
        <p:spPr/>
        <p:txBody>
          <a:bodyPr/>
          <a:lstStyle/>
          <a:p>
            <a:pPr algn="ctr"/>
            <a:r>
              <a:rPr lang="en-IN" dirty="0"/>
              <a:t>Individual Contributions</a:t>
            </a:r>
          </a:p>
        </p:txBody>
      </p:sp>
      <p:graphicFrame>
        <p:nvGraphicFramePr>
          <p:cNvPr id="11" name="Content Placeholder 10">
            <a:extLst>
              <a:ext uri="{FF2B5EF4-FFF2-40B4-BE49-F238E27FC236}">
                <a16:creationId xmlns:a16="http://schemas.microsoft.com/office/drawing/2014/main" id="{2F1FAF18-7951-2722-480D-73F078679D1C}"/>
              </a:ext>
            </a:extLst>
          </p:cNvPr>
          <p:cNvGraphicFramePr>
            <a:graphicFrameLocks noGrp="1"/>
          </p:cNvGraphicFramePr>
          <p:nvPr>
            <p:ph idx="1"/>
            <p:extLst>
              <p:ext uri="{D42A27DB-BD31-4B8C-83A1-F6EECF244321}">
                <p14:modId xmlns:p14="http://schemas.microsoft.com/office/powerpoint/2010/main" val="1110777713"/>
              </p:ext>
            </p:extLst>
          </p:nvPr>
        </p:nvGraphicFramePr>
        <p:xfrm>
          <a:off x="731837" y="2409016"/>
          <a:ext cx="10740835" cy="3675618"/>
        </p:xfrm>
        <a:graphic>
          <a:graphicData uri="http://schemas.openxmlformats.org/drawingml/2006/table">
            <a:tbl>
              <a:tblPr firstRow="1" bandRow="1">
                <a:tableStyleId>{5C22544A-7EE6-4342-B048-85BDC9FD1C3A}</a:tableStyleId>
              </a:tblPr>
              <a:tblGrid>
                <a:gridCol w="2148167">
                  <a:extLst>
                    <a:ext uri="{9D8B030D-6E8A-4147-A177-3AD203B41FA5}">
                      <a16:colId xmlns:a16="http://schemas.microsoft.com/office/drawing/2014/main" val="2198403237"/>
                    </a:ext>
                  </a:extLst>
                </a:gridCol>
                <a:gridCol w="2148167">
                  <a:extLst>
                    <a:ext uri="{9D8B030D-6E8A-4147-A177-3AD203B41FA5}">
                      <a16:colId xmlns:a16="http://schemas.microsoft.com/office/drawing/2014/main" val="2282851188"/>
                    </a:ext>
                  </a:extLst>
                </a:gridCol>
                <a:gridCol w="2148167">
                  <a:extLst>
                    <a:ext uri="{9D8B030D-6E8A-4147-A177-3AD203B41FA5}">
                      <a16:colId xmlns:a16="http://schemas.microsoft.com/office/drawing/2014/main" val="3357740324"/>
                    </a:ext>
                  </a:extLst>
                </a:gridCol>
                <a:gridCol w="2148167">
                  <a:extLst>
                    <a:ext uri="{9D8B030D-6E8A-4147-A177-3AD203B41FA5}">
                      <a16:colId xmlns:a16="http://schemas.microsoft.com/office/drawing/2014/main" val="665330367"/>
                    </a:ext>
                  </a:extLst>
                </a:gridCol>
                <a:gridCol w="2148167">
                  <a:extLst>
                    <a:ext uri="{9D8B030D-6E8A-4147-A177-3AD203B41FA5}">
                      <a16:colId xmlns:a16="http://schemas.microsoft.com/office/drawing/2014/main" val="416170712"/>
                    </a:ext>
                  </a:extLst>
                </a:gridCol>
              </a:tblGrid>
              <a:tr h="505923">
                <a:tc>
                  <a:txBody>
                    <a:bodyPr/>
                    <a:lstStyle/>
                    <a:p>
                      <a:pPr algn="ctr"/>
                      <a:r>
                        <a:rPr lang="en-IN" dirty="0"/>
                        <a:t>Adarsh</a:t>
                      </a:r>
                    </a:p>
                  </a:txBody>
                  <a:tcPr/>
                </a:tc>
                <a:tc>
                  <a:txBody>
                    <a:bodyPr/>
                    <a:lstStyle/>
                    <a:p>
                      <a:pPr algn="ctr"/>
                      <a:r>
                        <a:rPr lang="en-IN" dirty="0"/>
                        <a:t>Dhaval</a:t>
                      </a:r>
                    </a:p>
                  </a:txBody>
                  <a:tcPr/>
                </a:tc>
                <a:tc>
                  <a:txBody>
                    <a:bodyPr/>
                    <a:lstStyle/>
                    <a:p>
                      <a:pPr algn="ctr"/>
                      <a:r>
                        <a:rPr lang="en-IN" dirty="0"/>
                        <a:t>Anjali</a:t>
                      </a:r>
                    </a:p>
                  </a:txBody>
                  <a:tcPr/>
                </a:tc>
                <a:tc>
                  <a:txBody>
                    <a:bodyPr/>
                    <a:lstStyle/>
                    <a:p>
                      <a:pPr algn="ctr"/>
                      <a:r>
                        <a:rPr lang="en-IN" dirty="0" err="1"/>
                        <a:t>Krishita</a:t>
                      </a:r>
                      <a:endParaRPr lang="en-IN" dirty="0"/>
                    </a:p>
                  </a:txBody>
                  <a:tcPr/>
                </a:tc>
                <a:tc>
                  <a:txBody>
                    <a:bodyPr/>
                    <a:lstStyle/>
                    <a:p>
                      <a:pPr algn="ctr"/>
                      <a:r>
                        <a:rPr lang="en-IN" dirty="0"/>
                        <a:t>Ritik</a:t>
                      </a:r>
                    </a:p>
                  </a:txBody>
                  <a:tcPr/>
                </a:tc>
                <a:extLst>
                  <a:ext uri="{0D108BD9-81ED-4DB2-BD59-A6C34878D82A}">
                    <a16:rowId xmlns:a16="http://schemas.microsoft.com/office/drawing/2014/main" val="4014209853"/>
                  </a:ext>
                </a:extLst>
              </a:tr>
              <a:tr h="5059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Electronics</a:t>
                      </a:r>
                    </a:p>
                  </a:txBody>
                  <a:tcPr/>
                </a:tc>
                <a:tc>
                  <a:txBody>
                    <a:bodyPr/>
                    <a:lstStyle/>
                    <a:p>
                      <a:pPr algn="ctr"/>
                      <a:r>
                        <a:rPr lang="en-IN" dirty="0"/>
                        <a:t>Sheet metal</a:t>
                      </a:r>
                    </a:p>
                  </a:txBody>
                  <a:tcPr/>
                </a:tc>
                <a:tc>
                  <a:txBody>
                    <a:bodyPr/>
                    <a:lstStyle/>
                    <a:p>
                      <a:pPr algn="ctr"/>
                      <a:r>
                        <a:rPr lang="en-IN" dirty="0"/>
                        <a:t>Fabrication</a:t>
                      </a:r>
                    </a:p>
                  </a:txBody>
                  <a:tcPr/>
                </a:tc>
                <a:tc>
                  <a:txBody>
                    <a:bodyPr/>
                    <a:lstStyle/>
                    <a:p>
                      <a:pPr algn="ctr"/>
                      <a:r>
                        <a:rPr lang="en-IN" dirty="0"/>
                        <a:t>Fabrication</a:t>
                      </a:r>
                    </a:p>
                  </a:txBody>
                  <a:tcPr/>
                </a:tc>
                <a:tc>
                  <a:txBody>
                    <a:bodyPr/>
                    <a:lstStyle/>
                    <a:p>
                      <a:pPr algn="ctr"/>
                      <a:r>
                        <a:rPr lang="en-IN" dirty="0"/>
                        <a:t>Welding</a:t>
                      </a:r>
                    </a:p>
                  </a:txBody>
                  <a:tcPr/>
                </a:tc>
                <a:extLst>
                  <a:ext uri="{0D108BD9-81ED-4DB2-BD59-A6C34878D82A}">
                    <a16:rowId xmlns:a16="http://schemas.microsoft.com/office/drawing/2014/main" val="340369861"/>
                  </a:ext>
                </a:extLst>
              </a:tr>
              <a:tr h="505923">
                <a:tc>
                  <a:txBody>
                    <a:bodyPr/>
                    <a:lstStyle/>
                    <a:p>
                      <a:pPr algn="ctr"/>
                      <a:r>
                        <a:rPr lang="en-IN" dirty="0"/>
                        <a:t>Sheet metal</a:t>
                      </a:r>
                    </a:p>
                  </a:txBody>
                  <a:tcPr/>
                </a:tc>
                <a:tc>
                  <a:txBody>
                    <a:bodyPr/>
                    <a:lstStyle/>
                    <a:p>
                      <a:pPr algn="ctr"/>
                      <a:r>
                        <a:rPr lang="en-IN"/>
                        <a:t>Fabrication</a:t>
                      </a:r>
                      <a:endParaRPr lang="en-IN" dirty="0"/>
                    </a:p>
                  </a:txBody>
                  <a:tcPr/>
                </a:tc>
                <a:tc>
                  <a:txBody>
                    <a:bodyPr/>
                    <a:lstStyle/>
                    <a:p>
                      <a:pPr algn="ctr"/>
                      <a:r>
                        <a:rPr lang="en-IN" dirty="0"/>
                        <a:t>Sheet metal</a:t>
                      </a:r>
                    </a:p>
                  </a:txBody>
                  <a:tcPr/>
                </a:tc>
                <a:tc>
                  <a:txBody>
                    <a:bodyPr/>
                    <a:lstStyle/>
                    <a:p>
                      <a:pPr algn="ctr"/>
                      <a:r>
                        <a:rPr lang="en-IN" dirty="0"/>
                        <a:t>Welding</a:t>
                      </a:r>
                    </a:p>
                  </a:txBody>
                  <a:tcPr/>
                </a:tc>
                <a:tc>
                  <a:txBody>
                    <a:bodyPr/>
                    <a:lstStyle/>
                    <a:p>
                      <a:pPr algn="ctr"/>
                      <a:r>
                        <a:rPr lang="en-IN" dirty="0"/>
                        <a:t>Fabrication</a:t>
                      </a:r>
                    </a:p>
                  </a:txBody>
                  <a:tcPr/>
                </a:tc>
                <a:extLst>
                  <a:ext uri="{0D108BD9-81ED-4DB2-BD59-A6C34878D82A}">
                    <a16:rowId xmlns:a16="http://schemas.microsoft.com/office/drawing/2014/main" val="3634781883"/>
                  </a:ext>
                </a:extLst>
              </a:tr>
              <a:tr h="505923">
                <a:tc>
                  <a:txBody>
                    <a:bodyPr/>
                    <a:lstStyle/>
                    <a:p>
                      <a:pPr algn="ctr"/>
                      <a:r>
                        <a:rPr lang="en-IN" dirty="0"/>
                        <a:t>3-d printing ,Cad models</a:t>
                      </a:r>
                    </a:p>
                  </a:txBody>
                  <a:tcPr/>
                </a:tc>
                <a:tc>
                  <a:txBody>
                    <a:bodyPr/>
                    <a:lstStyle/>
                    <a:p>
                      <a:pPr algn="ctr"/>
                      <a:r>
                        <a:rPr lang="en-IN" dirty="0"/>
                        <a:t>Welding</a:t>
                      </a:r>
                    </a:p>
                  </a:txBody>
                  <a:tcPr/>
                </a:tc>
                <a:tc>
                  <a:txBody>
                    <a:bodyPr/>
                    <a:lstStyle/>
                    <a:p>
                      <a:pPr algn="ctr"/>
                      <a:r>
                        <a:rPr lang="en-IN" dirty="0"/>
                        <a:t>Machine shop</a:t>
                      </a:r>
                    </a:p>
                  </a:txBody>
                  <a:tcPr/>
                </a:tc>
                <a:tc>
                  <a:txBody>
                    <a:bodyPr/>
                    <a:lstStyle/>
                    <a:p>
                      <a:pPr algn="ctr"/>
                      <a:r>
                        <a:rPr lang="en-IN" dirty="0"/>
                        <a:t>Sheet metal</a:t>
                      </a:r>
                    </a:p>
                  </a:txBody>
                  <a:tcPr/>
                </a:tc>
                <a:tc>
                  <a:txBody>
                    <a:bodyPr/>
                    <a:lstStyle/>
                    <a:p>
                      <a:pPr algn="ctr"/>
                      <a:r>
                        <a:rPr lang="en-IN" dirty="0"/>
                        <a:t>Wood working</a:t>
                      </a:r>
                    </a:p>
                  </a:txBody>
                  <a:tcPr/>
                </a:tc>
                <a:extLst>
                  <a:ext uri="{0D108BD9-81ED-4DB2-BD59-A6C34878D82A}">
                    <a16:rowId xmlns:a16="http://schemas.microsoft.com/office/drawing/2014/main" val="741837189"/>
                  </a:ext>
                </a:extLst>
              </a:tr>
              <a:tr h="505923">
                <a:tc>
                  <a:txBody>
                    <a:bodyPr/>
                    <a:lstStyle/>
                    <a:p>
                      <a:pPr algn="ctr"/>
                      <a:r>
                        <a:rPr lang="en-IN" dirty="0"/>
                        <a:t>Fabrication</a:t>
                      </a:r>
                    </a:p>
                  </a:txBody>
                  <a:tcPr/>
                </a:tc>
                <a:tc>
                  <a:txBody>
                    <a:bodyPr/>
                    <a:lstStyle/>
                    <a:p>
                      <a:pPr algn="ctr"/>
                      <a:r>
                        <a:rPr lang="en-IN" dirty="0"/>
                        <a:t>Machine shop</a:t>
                      </a:r>
                    </a:p>
                  </a:txBody>
                  <a:tcPr/>
                </a:tc>
                <a:tc>
                  <a:txBody>
                    <a:bodyPr/>
                    <a:lstStyle/>
                    <a:p>
                      <a:pPr algn="ctr"/>
                      <a:r>
                        <a:rPr lang="en-IN" dirty="0"/>
                        <a:t>3-d print</a:t>
                      </a:r>
                    </a:p>
                  </a:txBody>
                  <a:tcPr/>
                </a:tc>
                <a:tc>
                  <a:txBody>
                    <a:bodyPr/>
                    <a:lstStyle/>
                    <a:p>
                      <a:pPr algn="ctr"/>
                      <a:r>
                        <a:rPr lang="en-IN" dirty="0"/>
                        <a:t>Wood working</a:t>
                      </a:r>
                    </a:p>
                  </a:txBody>
                  <a:tcPr/>
                </a:tc>
                <a:tc>
                  <a:txBody>
                    <a:bodyPr/>
                    <a:lstStyle/>
                    <a:p>
                      <a:pPr algn="ctr"/>
                      <a:r>
                        <a:rPr lang="en-IN" dirty="0"/>
                        <a:t>Sheet metal</a:t>
                      </a:r>
                    </a:p>
                  </a:txBody>
                  <a:tcPr/>
                </a:tc>
                <a:extLst>
                  <a:ext uri="{0D108BD9-81ED-4DB2-BD59-A6C34878D82A}">
                    <a16:rowId xmlns:a16="http://schemas.microsoft.com/office/drawing/2014/main" val="2292697928"/>
                  </a:ext>
                </a:extLst>
              </a:tr>
              <a:tr h="505923">
                <a:tc>
                  <a:txBody>
                    <a:bodyPr/>
                    <a:lstStyle/>
                    <a:p>
                      <a:pPr algn="ctr"/>
                      <a:r>
                        <a:rPr lang="en-IN" dirty="0"/>
                        <a:t>Welding</a:t>
                      </a:r>
                    </a:p>
                  </a:txBody>
                  <a:tcPr/>
                </a:tc>
                <a:tc>
                  <a:txBody>
                    <a:bodyPr/>
                    <a:lstStyle/>
                    <a:p>
                      <a:pPr algn="ctr"/>
                      <a:r>
                        <a:rPr lang="en-IN" dirty="0"/>
                        <a:t>Wood working</a:t>
                      </a:r>
                    </a:p>
                  </a:txBody>
                  <a:tcPr/>
                </a:tc>
                <a:tc>
                  <a:txBody>
                    <a:bodyPr/>
                    <a:lstStyle/>
                    <a:p>
                      <a:pPr algn="ctr"/>
                      <a:r>
                        <a:rPr lang="en-IN" dirty="0"/>
                        <a:t>CNC</a:t>
                      </a:r>
                    </a:p>
                  </a:txBody>
                  <a:tcPr/>
                </a:tc>
                <a:tc>
                  <a:txBody>
                    <a:bodyPr/>
                    <a:lstStyle/>
                    <a:p>
                      <a:pPr algn="ctr"/>
                      <a:r>
                        <a:rPr lang="en-IN" dirty="0"/>
                        <a:t>Machine shop</a:t>
                      </a:r>
                    </a:p>
                  </a:txBody>
                  <a:tcPr/>
                </a:tc>
                <a:tc>
                  <a:txBody>
                    <a:bodyPr/>
                    <a:lstStyle/>
                    <a:p>
                      <a:pPr algn="ctr"/>
                      <a:r>
                        <a:rPr lang="en-IN"/>
                        <a:t>DMF</a:t>
                      </a:r>
                    </a:p>
                  </a:txBody>
                  <a:tcPr/>
                </a:tc>
                <a:extLst>
                  <a:ext uri="{0D108BD9-81ED-4DB2-BD59-A6C34878D82A}">
                    <a16:rowId xmlns:a16="http://schemas.microsoft.com/office/drawing/2014/main" val="1172032041"/>
                  </a:ext>
                </a:extLst>
              </a:tr>
              <a:tr h="505923">
                <a:tc>
                  <a:txBody>
                    <a:bodyPr/>
                    <a:lstStyle/>
                    <a:p>
                      <a:pPr algn="ctr"/>
                      <a:r>
                        <a:rPr lang="en-IN" dirty="0"/>
                        <a:t>CNC</a:t>
                      </a:r>
                    </a:p>
                  </a:txBody>
                  <a:tcPr/>
                </a:tc>
                <a:tc>
                  <a:txBody>
                    <a:bodyPr/>
                    <a:lstStyle/>
                    <a:p>
                      <a:pPr algn="ctr"/>
                      <a:r>
                        <a:rPr lang="en-IN" dirty="0"/>
                        <a:t>Electronics</a:t>
                      </a:r>
                    </a:p>
                  </a:txBody>
                  <a:tcPr/>
                </a:tc>
                <a:tc>
                  <a:txBody>
                    <a:bodyPr/>
                    <a:lstStyle/>
                    <a:p>
                      <a:pPr algn="ctr"/>
                      <a:r>
                        <a:rPr lang="en-IN" dirty="0"/>
                        <a:t>DMF</a:t>
                      </a:r>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1614486489"/>
                  </a:ext>
                </a:extLst>
              </a:tr>
            </a:tbl>
          </a:graphicData>
        </a:graphic>
      </p:graphicFrame>
    </p:spTree>
    <p:extLst>
      <p:ext uri="{BB962C8B-B14F-4D97-AF65-F5344CB8AC3E}">
        <p14:creationId xmlns:p14="http://schemas.microsoft.com/office/powerpoint/2010/main" val="2540906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A739-6875-4A4D-60BE-37D70366BC67}"/>
              </a:ext>
            </a:extLst>
          </p:cNvPr>
          <p:cNvSpPr>
            <a:spLocks noGrp="1"/>
          </p:cNvSpPr>
          <p:nvPr>
            <p:ph type="title"/>
          </p:nvPr>
        </p:nvSpPr>
        <p:spPr/>
        <p:txBody>
          <a:bodyPr>
            <a:normAutofit/>
          </a:bodyPr>
          <a:lstStyle/>
          <a:p>
            <a:pPr algn="ctr"/>
            <a:r>
              <a:rPr lang="en-IN" dirty="0"/>
              <a:t>Machines Used</a:t>
            </a:r>
          </a:p>
        </p:txBody>
      </p:sp>
      <p:sp>
        <p:nvSpPr>
          <p:cNvPr id="4" name="Content Placeholder 3">
            <a:extLst>
              <a:ext uri="{FF2B5EF4-FFF2-40B4-BE49-F238E27FC236}">
                <a16:creationId xmlns:a16="http://schemas.microsoft.com/office/drawing/2014/main" id="{8F956550-F06C-72B7-BFDE-C7249942E154}"/>
              </a:ext>
            </a:extLst>
          </p:cNvPr>
          <p:cNvSpPr>
            <a:spLocks noGrp="1"/>
          </p:cNvSpPr>
          <p:nvPr>
            <p:ph idx="1"/>
          </p:nvPr>
        </p:nvSpPr>
        <p:spPr>
          <a:xfrm>
            <a:off x="731520" y="2590800"/>
            <a:ext cx="10780776" cy="3476412"/>
          </a:xfrm>
        </p:spPr>
        <p:txBody>
          <a:bodyPr/>
          <a:lstStyle/>
          <a:p>
            <a:pPr marL="285750" indent="-285750">
              <a:buFont typeface="Arial" panose="020B0604020202020204" pitchFamily="34" charset="0"/>
              <a:buChar char="•"/>
            </a:pPr>
            <a:r>
              <a:rPr lang="en-IN" dirty="0"/>
              <a:t>Sheet metal: Metal sheet cutter, Laser cutter, </a:t>
            </a:r>
            <a:r>
              <a:rPr lang="en-IN"/>
              <a:t>Sheet bending machine</a:t>
            </a:r>
            <a:endParaRPr lang="en-IN" dirty="0"/>
          </a:p>
          <a:p>
            <a:pPr marL="285750" indent="-285750">
              <a:buFont typeface="Arial" panose="020B0604020202020204" pitchFamily="34" charset="0"/>
              <a:buChar char="•"/>
            </a:pPr>
            <a:r>
              <a:rPr lang="en-IN" dirty="0"/>
              <a:t>Fabrication: hand drill machine, drill</a:t>
            </a:r>
          </a:p>
          <a:p>
            <a:pPr marL="285750" indent="-285750">
              <a:buFont typeface="Arial" panose="020B0604020202020204" pitchFamily="34" charset="0"/>
              <a:buChar char="•"/>
            </a:pPr>
            <a:r>
              <a:rPr lang="en-IN" dirty="0"/>
              <a:t>CNC: Water-jet cutting</a:t>
            </a:r>
          </a:p>
          <a:p>
            <a:pPr marL="285750" indent="-285750">
              <a:buFont typeface="Arial" panose="020B0604020202020204" pitchFamily="34" charset="0"/>
              <a:buChar char="•"/>
            </a:pPr>
            <a:r>
              <a:rPr lang="en-IN" dirty="0"/>
              <a:t>Welding: SMAW, spot welding, Laser welding</a:t>
            </a:r>
          </a:p>
          <a:p>
            <a:pPr marL="285750" indent="-285750">
              <a:buFont typeface="Arial" panose="020B0604020202020204" pitchFamily="34" charset="0"/>
              <a:buChar char="•"/>
            </a:pPr>
            <a:r>
              <a:rPr lang="en-IN" dirty="0"/>
              <a:t>3-d printing: </a:t>
            </a:r>
            <a:r>
              <a:rPr lang="en-IN" dirty="0" err="1"/>
              <a:t>Creality</a:t>
            </a:r>
            <a:r>
              <a:rPr lang="en-IN" dirty="0"/>
              <a:t> printer (with fusion software)</a:t>
            </a:r>
          </a:p>
          <a:p>
            <a:pPr marL="285750" indent="-285750">
              <a:buFont typeface="Arial" panose="020B0604020202020204" pitchFamily="34" charset="0"/>
              <a:buChar char="•"/>
            </a:pPr>
            <a:r>
              <a:rPr lang="en-IN" dirty="0"/>
              <a:t>Wood working: Table Saw</a:t>
            </a:r>
          </a:p>
          <a:p>
            <a:pPr marL="285750" indent="-285750">
              <a:buFont typeface="Arial" panose="020B0604020202020204" pitchFamily="34" charset="0"/>
              <a:buChar char="•"/>
            </a:pPr>
            <a:r>
              <a:rPr lang="en-IN" dirty="0"/>
              <a:t>DMF: Arduino Uno, 14.8V battery, Jumper wires, Motor driver</a:t>
            </a:r>
          </a:p>
        </p:txBody>
      </p:sp>
    </p:spTree>
    <p:extLst>
      <p:ext uri="{BB962C8B-B14F-4D97-AF65-F5344CB8AC3E}">
        <p14:creationId xmlns:p14="http://schemas.microsoft.com/office/powerpoint/2010/main" val="3495418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A1DA-5963-A615-BB67-4C851E4DAF31}"/>
              </a:ext>
            </a:extLst>
          </p:cNvPr>
          <p:cNvSpPr>
            <a:spLocks noGrp="1"/>
          </p:cNvSpPr>
          <p:nvPr>
            <p:ph type="title"/>
          </p:nvPr>
        </p:nvSpPr>
        <p:spPr/>
        <p:txBody>
          <a:bodyPr/>
          <a:lstStyle/>
          <a:p>
            <a:pPr algn="ctr"/>
            <a:r>
              <a:rPr lang="en-IN" dirty="0"/>
              <a:t>Innovation</a:t>
            </a:r>
          </a:p>
        </p:txBody>
      </p:sp>
      <p:sp>
        <p:nvSpPr>
          <p:cNvPr id="4" name="Content Placeholder 3">
            <a:extLst>
              <a:ext uri="{FF2B5EF4-FFF2-40B4-BE49-F238E27FC236}">
                <a16:creationId xmlns:a16="http://schemas.microsoft.com/office/drawing/2014/main" id="{C1CC3408-04A9-1F95-F5F9-76321449DE16}"/>
              </a:ext>
            </a:extLst>
          </p:cNvPr>
          <p:cNvSpPr>
            <a:spLocks noGrp="1"/>
          </p:cNvSpPr>
          <p:nvPr>
            <p:ph idx="1"/>
          </p:nvPr>
        </p:nvSpPr>
        <p:spPr>
          <a:xfrm>
            <a:off x="705612" y="2819399"/>
            <a:ext cx="10780776" cy="4119879"/>
          </a:xfrm>
        </p:spPr>
        <p:txBody>
          <a:bodyPr/>
          <a:lstStyle/>
          <a:p>
            <a:r>
              <a:rPr lang="en-IN" dirty="0"/>
              <a:t>	</a:t>
            </a:r>
            <a:r>
              <a:rPr lang="en-IN" sz="2000" dirty="0"/>
              <a:t>Our main innovation was using software for input instead of mechanical buttons</a:t>
            </a:r>
            <a:r>
              <a:rPr lang="en-US" sz="2000" dirty="0"/>
              <a:t>. It provided greater accuracy and control over</a:t>
            </a:r>
            <a:r>
              <a:rPr lang="en-IN" sz="2000" dirty="0"/>
              <a:t> the motion of the X-ray head. We can easily shift the position of the X-ray head to any position we wish. It is also easily scalable in </a:t>
            </a:r>
            <a:r>
              <a:rPr lang="en-US" sz="2000" dirty="0"/>
              <a:t>the future, as we could change the code and put the stand under our control without any extra expenditure on </a:t>
            </a:r>
            <a:r>
              <a:rPr lang="en-IN" sz="2000" dirty="0"/>
              <a:t>new components. We also added locking-type wheels to lock the stand in that position.</a:t>
            </a:r>
            <a:endParaRPr lang="en-IN" dirty="0"/>
          </a:p>
        </p:txBody>
      </p:sp>
    </p:spTree>
    <p:extLst>
      <p:ext uri="{BB962C8B-B14F-4D97-AF65-F5344CB8AC3E}">
        <p14:creationId xmlns:p14="http://schemas.microsoft.com/office/powerpoint/2010/main" val="405123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ABDC-723A-A821-407F-4334E3A48560}"/>
              </a:ext>
            </a:extLst>
          </p:cNvPr>
          <p:cNvSpPr>
            <a:spLocks noGrp="1"/>
          </p:cNvSpPr>
          <p:nvPr>
            <p:ph type="title"/>
          </p:nvPr>
        </p:nvSpPr>
        <p:spPr/>
        <p:txBody>
          <a:bodyPr>
            <a:normAutofit fontScale="90000"/>
          </a:bodyPr>
          <a:lstStyle/>
          <a:p>
            <a:pPr algn="ctr"/>
            <a:r>
              <a:rPr lang="en-IN" dirty="0"/>
              <a:t>Our takeaway and acknowledgement</a:t>
            </a:r>
          </a:p>
        </p:txBody>
      </p:sp>
      <p:sp>
        <p:nvSpPr>
          <p:cNvPr id="4" name="Content Placeholder 3">
            <a:extLst>
              <a:ext uri="{FF2B5EF4-FFF2-40B4-BE49-F238E27FC236}">
                <a16:creationId xmlns:a16="http://schemas.microsoft.com/office/drawing/2014/main" id="{9B2B279B-0269-E8A4-9BF9-A9D0CEBA37E4}"/>
              </a:ext>
            </a:extLst>
          </p:cNvPr>
          <p:cNvSpPr>
            <a:spLocks noGrp="1"/>
          </p:cNvSpPr>
          <p:nvPr>
            <p:ph idx="1"/>
          </p:nvPr>
        </p:nvSpPr>
        <p:spPr>
          <a:xfrm>
            <a:off x="731520" y="3124199"/>
            <a:ext cx="10780776" cy="3484879"/>
          </a:xfrm>
        </p:spPr>
        <p:txBody>
          <a:bodyPr/>
          <a:lstStyle/>
          <a:p>
            <a:r>
              <a:rPr lang="en-IN" dirty="0"/>
              <a:t>	We all had fun building this project, and we learned how an idea is converted into a real-life product. One thing we noticed is that as we build a product, some ideas come only when we try to build it. For example, we had difficulty in welding the upper aluminium extrusion and the Mild steel sheet. At that point in time, we got the idea of using screws and an L-bracket. </a:t>
            </a:r>
          </a:p>
          <a:p>
            <a:r>
              <a:rPr lang="en-IN" dirty="0"/>
              <a:t>	I would especially like to thank Mr Pulak Pandey, lab staff, and TAs who showed us constant support and help in providing us with all the material we required.</a:t>
            </a:r>
          </a:p>
        </p:txBody>
      </p:sp>
    </p:spTree>
    <p:extLst>
      <p:ext uri="{BB962C8B-B14F-4D97-AF65-F5344CB8AC3E}">
        <p14:creationId xmlns:p14="http://schemas.microsoft.com/office/powerpoint/2010/main" val="3386154611"/>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06425CD9-6AD2-4C0A-AA8A-EC616B39A798}" vid="{EC9F9972-29B2-4112-AC86-7DB2D5EABECF}"/>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Archway</Template>
  <TotalTime>54</TotalTime>
  <Words>341</Words>
  <Application>Microsoft Office PowerPoint</Application>
  <PresentationFormat>Widescreen</PresentationFormat>
  <Paragraphs>62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Felix Titling</vt:lpstr>
      <vt:lpstr>Goudy Old Style</vt:lpstr>
      <vt:lpstr>Archway</vt:lpstr>
      <vt:lpstr>Portable Xray stand</vt:lpstr>
      <vt:lpstr>Shops used</vt:lpstr>
      <vt:lpstr>Individual Contributions</vt:lpstr>
      <vt:lpstr>Machines Used</vt:lpstr>
      <vt:lpstr>Innovation</vt:lpstr>
      <vt:lpstr>Our takeaway and 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Adarsh Pilakkavil</dc:creator>
  <cp:lastModifiedBy>Adarsh Pilakkavil</cp:lastModifiedBy>
  <cp:revision>2</cp:revision>
  <dcterms:created xsi:type="dcterms:W3CDTF">2026-04-30T17:56:46Z</dcterms:created>
  <dcterms:modified xsi:type="dcterms:W3CDTF">2026-04-30T18:51:25Z</dcterms:modified>
</cp:coreProperties>
</file>